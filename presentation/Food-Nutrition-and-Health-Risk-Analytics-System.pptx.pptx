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" charset="1" panose="020B0604020202020204"/>
      <p:regular r:id="rId18"/>
    </p:embeddedFont>
    <p:embeddedFont>
      <p:font typeface="Arimo Bold" charset="1" panose="020B07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975077"/>
            <a:ext cx="16973098" cy="1055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2"/>
              </a:lnSpc>
            </a:pPr>
            <a:r>
              <a:rPr lang="en-US" sz="65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Food Nutrition &amp; Health Risk Analytics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5115077"/>
            <a:ext cx="17217923" cy="54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27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Analyzing nutritional quality and health risks using data analytics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6006703"/>
            <a:ext cx="1312812" cy="561384"/>
            <a:chOff x="0" y="0"/>
            <a:chExt cx="1750416" cy="7485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0378" cy="748412"/>
            </a:xfrm>
            <a:custGeom>
              <a:avLst/>
              <a:gdLst/>
              <a:ahLst/>
              <a:cxnLst/>
              <a:rect r="r" b="b" t="t" l="l"/>
              <a:pathLst>
                <a:path h="748412" w="1750378">
                  <a:moveTo>
                    <a:pt x="0" y="46101"/>
                  </a:moveTo>
                  <a:cubicBezTo>
                    <a:pt x="0" y="20701"/>
                    <a:pt x="20682" y="0"/>
                    <a:pt x="46059" y="0"/>
                  </a:cubicBezTo>
                  <a:lnTo>
                    <a:pt x="1704318" y="0"/>
                  </a:lnTo>
                  <a:cubicBezTo>
                    <a:pt x="1729822" y="0"/>
                    <a:pt x="1750378" y="20701"/>
                    <a:pt x="1750378" y="46101"/>
                  </a:cubicBezTo>
                  <a:lnTo>
                    <a:pt x="1750378" y="702310"/>
                  </a:lnTo>
                  <a:cubicBezTo>
                    <a:pt x="1750378" y="727837"/>
                    <a:pt x="1729695" y="748411"/>
                    <a:pt x="1704318" y="748411"/>
                  </a:cubicBezTo>
                  <a:lnTo>
                    <a:pt x="46059" y="748411"/>
                  </a:lnTo>
                  <a:cubicBezTo>
                    <a:pt x="20682" y="748538"/>
                    <a:pt x="0" y="727837"/>
                    <a:pt x="0" y="70231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19" t="0" r="-4912" b="-13"/>
              </a:stretch>
            </a:blipFill>
            <a:ln w="9526" cap="sq">
              <a:solidFill>
                <a:srgbClr val="D3C5B6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71870" y="6029773"/>
            <a:ext cx="1859604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1999">
                <a:solidFill>
                  <a:srgbClr val="D3C5B6"/>
                </a:solidFill>
                <a:latin typeface="Arimo"/>
                <a:ea typeface="Arimo"/>
                <a:cs typeface="Arimo"/>
                <a:sym typeface="Arimo"/>
              </a:rPr>
              <a:t>PYTHON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433638" y="6006703"/>
            <a:ext cx="1282008" cy="561384"/>
            <a:chOff x="0" y="0"/>
            <a:chExt cx="1709344" cy="7485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9293" cy="748412"/>
            </a:xfrm>
            <a:custGeom>
              <a:avLst/>
              <a:gdLst/>
              <a:ahLst/>
              <a:cxnLst/>
              <a:rect r="r" b="b" t="t" l="l"/>
              <a:pathLst>
                <a:path h="748412" w="1709293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1663192" y="0"/>
                  </a:lnTo>
                  <a:cubicBezTo>
                    <a:pt x="1688719" y="0"/>
                    <a:pt x="1709293" y="20701"/>
                    <a:pt x="1709293" y="46101"/>
                  </a:cubicBezTo>
                  <a:lnTo>
                    <a:pt x="1709293" y="702310"/>
                  </a:lnTo>
                  <a:cubicBezTo>
                    <a:pt x="1709293" y="727837"/>
                    <a:pt x="1688592" y="748411"/>
                    <a:pt x="1663192" y="748411"/>
                  </a:cubicBezTo>
                  <a:lnTo>
                    <a:pt x="46101" y="748411"/>
                  </a:lnTo>
                  <a:cubicBezTo>
                    <a:pt x="20701" y="748538"/>
                    <a:pt x="0" y="727837"/>
                    <a:pt x="0" y="70231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83" t="0" r="-6186" b="-13"/>
              </a:stretch>
            </a:blipFill>
            <a:ln w="9526" cap="sq">
              <a:solidFill>
                <a:srgbClr val="D3C5B6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2618032" y="6029773"/>
            <a:ext cx="1827609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1999">
                <a:solidFill>
                  <a:srgbClr val="D3C5B6"/>
                </a:solidFill>
                <a:latin typeface="Arimo"/>
                <a:ea typeface="Arimo"/>
                <a:cs typeface="Arimo"/>
                <a:sym typeface="Arimo"/>
              </a:rPr>
              <a:t>PANDAS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847805" y="6006703"/>
            <a:ext cx="1151182" cy="561384"/>
            <a:chOff x="0" y="0"/>
            <a:chExt cx="1534909" cy="7485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4922" cy="748412"/>
            </a:xfrm>
            <a:custGeom>
              <a:avLst/>
              <a:gdLst/>
              <a:ahLst/>
              <a:cxnLst/>
              <a:rect r="r" b="b" t="t" l="l"/>
              <a:pathLst>
                <a:path h="748412" w="1534922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1488821" y="0"/>
                  </a:lnTo>
                  <a:cubicBezTo>
                    <a:pt x="1514348" y="0"/>
                    <a:pt x="1534922" y="20701"/>
                    <a:pt x="1534922" y="46101"/>
                  </a:cubicBezTo>
                  <a:lnTo>
                    <a:pt x="1534922" y="702310"/>
                  </a:lnTo>
                  <a:cubicBezTo>
                    <a:pt x="1534922" y="727837"/>
                    <a:pt x="1514221" y="748411"/>
                    <a:pt x="1488821" y="748411"/>
                  </a:cubicBezTo>
                  <a:lnTo>
                    <a:pt x="46101" y="748411"/>
                  </a:lnTo>
                  <a:cubicBezTo>
                    <a:pt x="20701" y="748538"/>
                    <a:pt x="0" y="727837"/>
                    <a:pt x="0" y="70231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568" t="0" r="-12567" b="-13"/>
              </a:stretch>
            </a:blipFill>
            <a:ln w="9526" cap="sq">
              <a:solidFill>
                <a:srgbClr val="D3C5B6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032199" y="6029773"/>
            <a:ext cx="1696793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1999">
                <a:solidFill>
                  <a:srgbClr val="D3C5B6"/>
                </a:solidFill>
                <a:latin typeface="Arimo"/>
                <a:ea typeface="Arimo"/>
                <a:cs typeface="Arimo"/>
                <a:sym typeface="Arimo"/>
              </a:rPr>
              <a:t>MYSQL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131146" y="6006703"/>
            <a:ext cx="1495282" cy="561384"/>
            <a:chOff x="0" y="0"/>
            <a:chExt cx="1993710" cy="7485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3646" cy="748412"/>
            </a:xfrm>
            <a:custGeom>
              <a:avLst/>
              <a:gdLst/>
              <a:ahLst/>
              <a:cxnLst/>
              <a:rect r="r" b="b" t="t" l="l"/>
              <a:pathLst>
                <a:path h="748412" w="1993646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1947545" y="0"/>
                  </a:lnTo>
                  <a:cubicBezTo>
                    <a:pt x="1973072" y="0"/>
                    <a:pt x="1993646" y="20701"/>
                    <a:pt x="1993646" y="46101"/>
                  </a:cubicBezTo>
                  <a:lnTo>
                    <a:pt x="1993646" y="702310"/>
                  </a:lnTo>
                  <a:cubicBezTo>
                    <a:pt x="1993646" y="727837"/>
                    <a:pt x="1972945" y="748411"/>
                    <a:pt x="1947545" y="748411"/>
                  </a:cubicBezTo>
                  <a:lnTo>
                    <a:pt x="46101" y="748411"/>
                  </a:lnTo>
                  <a:cubicBezTo>
                    <a:pt x="20701" y="748538"/>
                    <a:pt x="0" y="727837"/>
                    <a:pt x="0" y="70231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9" r="-3" b="-1913"/>
              </a:stretch>
            </a:blipFill>
            <a:ln w="9526" cap="sq">
              <a:solidFill>
                <a:srgbClr val="D3C5B6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5313312" y="6061462"/>
            <a:ext cx="2040884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1999">
                <a:solidFill>
                  <a:srgbClr val="D3C5B6"/>
                </a:solidFill>
                <a:latin typeface="Arimo"/>
                <a:ea typeface="Arimo"/>
                <a:cs typeface="Arimo"/>
                <a:sym typeface="Arimo"/>
              </a:rPr>
              <a:t>POWER BI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759778" y="5990468"/>
            <a:ext cx="1266082" cy="561384"/>
            <a:chOff x="0" y="0"/>
            <a:chExt cx="1688109" cy="74851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8084" cy="748412"/>
            </a:xfrm>
            <a:custGeom>
              <a:avLst/>
              <a:gdLst/>
              <a:ahLst/>
              <a:cxnLst/>
              <a:rect r="r" b="b" t="t" l="l"/>
              <a:pathLst>
                <a:path h="748412" w="1688084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1641983" y="0"/>
                  </a:lnTo>
                  <a:cubicBezTo>
                    <a:pt x="1667510" y="0"/>
                    <a:pt x="1688084" y="20701"/>
                    <a:pt x="1688084" y="46101"/>
                  </a:cubicBezTo>
                  <a:lnTo>
                    <a:pt x="1688084" y="702310"/>
                  </a:lnTo>
                  <a:cubicBezTo>
                    <a:pt x="1688084" y="727837"/>
                    <a:pt x="1667383" y="748411"/>
                    <a:pt x="1641983" y="748411"/>
                  </a:cubicBezTo>
                  <a:lnTo>
                    <a:pt x="46101" y="748411"/>
                  </a:lnTo>
                  <a:cubicBezTo>
                    <a:pt x="20701" y="748538"/>
                    <a:pt x="0" y="727837"/>
                    <a:pt x="0" y="70231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90" t="0" r="-6891" b="-13"/>
              </a:stretch>
            </a:blipFill>
            <a:ln w="9526" cap="sq">
              <a:solidFill>
                <a:srgbClr val="D3C5B6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940753" y="6061462"/>
            <a:ext cx="1811684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1999">
                <a:solidFill>
                  <a:srgbClr val="D3C5B6"/>
                </a:solidFill>
                <a:latin typeface="Arimo"/>
                <a:ea typeface="Arimo"/>
                <a:cs typeface="Arimo"/>
                <a:sym typeface="Arimo"/>
              </a:rPr>
              <a:t>GITHUB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6806060"/>
            <a:ext cx="17217923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19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Prepared by: Abdul Samhoon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808882"/>
            <a:ext cx="9445523" cy="136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Problem, Objectives &amp; Dataset at a Glance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2549728"/>
            <a:ext cx="4598194" cy="4653705"/>
            <a:chOff x="0" y="0"/>
            <a:chExt cx="6130925" cy="62049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30925" cy="6204966"/>
            </a:xfrm>
            <a:custGeom>
              <a:avLst/>
              <a:gdLst/>
              <a:ahLst/>
              <a:cxnLst/>
              <a:rect r="r" b="b" t="t" l="l"/>
              <a:pathLst>
                <a:path h="6204966" w="6130925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6077712" y="0"/>
                  </a:lnTo>
                  <a:cubicBezTo>
                    <a:pt x="6107049" y="0"/>
                    <a:pt x="6130925" y="23749"/>
                    <a:pt x="6130925" y="53213"/>
                  </a:cubicBezTo>
                  <a:lnTo>
                    <a:pt x="6130925" y="6151753"/>
                  </a:lnTo>
                  <a:cubicBezTo>
                    <a:pt x="6130925" y="6181090"/>
                    <a:pt x="6107176" y="6204966"/>
                    <a:pt x="6077712" y="6204966"/>
                  </a:cubicBezTo>
                  <a:lnTo>
                    <a:pt x="53213" y="6204966"/>
                  </a:lnTo>
                  <a:cubicBezTo>
                    <a:pt x="23876" y="6204966"/>
                    <a:pt x="0" y="6181217"/>
                    <a:pt x="0" y="6151753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58043" y="2786958"/>
            <a:ext cx="33225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Problem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043" y="3313662"/>
            <a:ext cx="4066584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Consumers lack clear, data-driven insights into the nutritional quality and health risks of packaged and traditional foods.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39568" y="2549728"/>
            <a:ext cx="4598194" cy="4653705"/>
            <a:chOff x="0" y="0"/>
            <a:chExt cx="6130925" cy="62049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30925" cy="6204966"/>
            </a:xfrm>
            <a:custGeom>
              <a:avLst/>
              <a:gdLst/>
              <a:ahLst/>
              <a:cxnLst/>
              <a:rect r="r" b="b" t="t" l="l"/>
              <a:pathLst>
                <a:path h="6204966" w="6130925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6077712" y="0"/>
                  </a:lnTo>
                  <a:cubicBezTo>
                    <a:pt x="6107049" y="0"/>
                    <a:pt x="6130925" y="23749"/>
                    <a:pt x="6130925" y="53213"/>
                  </a:cubicBezTo>
                  <a:lnTo>
                    <a:pt x="6130925" y="6151753"/>
                  </a:lnTo>
                  <a:cubicBezTo>
                    <a:pt x="6130925" y="6181090"/>
                    <a:pt x="6107176" y="6204966"/>
                    <a:pt x="6077712" y="6204966"/>
                  </a:cubicBezTo>
                  <a:lnTo>
                    <a:pt x="53213" y="6204966"/>
                  </a:lnTo>
                  <a:cubicBezTo>
                    <a:pt x="23876" y="6204966"/>
                    <a:pt x="0" y="6181217"/>
                    <a:pt x="0" y="6151753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105373" y="2786958"/>
            <a:ext cx="33225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Project Objectives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05373" y="3313662"/>
            <a:ext cx="4066584" cy="3623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3096"/>
              </a:lnSpc>
              <a:buFont typeface="Arial"/>
              <a:buChar char="•"/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Analyze 1,028 food items across 9 nutrients</a:t>
            </a:r>
          </a:p>
          <a:p>
            <a:pPr algn="l" marL="482600" indent="-241300" lvl="1">
              <a:lnSpc>
                <a:spcPts val="3096"/>
              </a:lnSpc>
              <a:buFont typeface="Arial"/>
              <a:buChar char="•"/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Develop Health Risk Score &amp; Nutrition Density</a:t>
            </a:r>
          </a:p>
          <a:p>
            <a:pPr algn="l" marL="482600" indent="-241300" lvl="1">
              <a:lnSpc>
                <a:spcPts val="3096"/>
              </a:lnSpc>
              <a:buFont typeface="Arial"/>
              <a:buChar char="•"/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Identify healthy vs high‑risk foods</a:t>
            </a:r>
          </a:p>
          <a:p>
            <a:pPr algn="l" marL="482600" indent="-241300" lvl="1">
              <a:lnSpc>
                <a:spcPts val="3096"/>
              </a:lnSpc>
              <a:buFont typeface="Arial"/>
              <a:buChar char="•"/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Deliver interactive Power BI dashboards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7452570"/>
            <a:ext cx="9445523" cy="1987306"/>
            <a:chOff x="0" y="0"/>
            <a:chExt cx="12594031" cy="26497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94082" cy="2649855"/>
            </a:xfrm>
            <a:custGeom>
              <a:avLst/>
              <a:gdLst/>
              <a:ahLst/>
              <a:cxnLst/>
              <a:rect r="r" b="b" t="t" l="l"/>
              <a:pathLst>
                <a:path h="2649855" w="12594082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12540869" y="0"/>
                  </a:lnTo>
                  <a:cubicBezTo>
                    <a:pt x="12570206" y="0"/>
                    <a:pt x="12594082" y="23749"/>
                    <a:pt x="12594082" y="53213"/>
                  </a:cubicBezTo>
                  <a:lnTo>
                    <a:pt x="12594082" y="2596642"/>
                  </a:lnTo>
                  <a:cubicBezTo>
                    <a:pt x="12594082" y="2625979"/>
                    <a:pt x="12570333" y="2649855"/>
                    <a:pt x="12540869" y="2649855"/>
                  </a:cubicBezTo>
                  <a:lnTo>
                    <a:pt x="53213" y="2649855"/>
                  </a:lnTo>
                  <a:cubicBezTo>
                    <a:pt x="23876" y="2649855"/>
                    <a:pt x="0" y="2626106"/>
                    <a:pt x="0" y="2596642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58043" y="7689799"/>
            <a:ext cx="33225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Dataset Overview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8043" y="8216503"/>
            <a:ext cx="8913914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1,028 items · 9 core nutritional features · no missing values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8043" y="8768363"/>
            <a:ext cx="8913914" cy="36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18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Key features: Energy, Protein, Fat, Carbs, Free Sugar, Fibre, Cholesterol, Calcium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641674" y="808882"/>
            <a:ext cx="7311781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Project Workflow &amp; Feature Engineering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641674" y="1415358"/>
            <a:ext cx="11004652" cy="4753423"/>
            <a:chOff x="0" y="0"/>
            <a:chExt cx="14672869" cy="633789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4672818" cy="6337935"/>
            </a:xfrm>
            <a:custGeom>
              <a:avLst/>
              <a:gdLst/>
              <a:ahLst/>
              <a:cxnLst/>
              <a:rect r="r" b="b" t="t" l="l"/>
              <a:pathLst>
                <a:path h="6337935" w="14672818">
                  <a:moveTo>
                    <a:pt x="0" y="0"/>
                  </a:moveTo>
                  <a:lnTo>
                    <a:pt x="14672818" y="0"/>
                  </a:lnTo>
                  <a:lnTo>
                    <a:pt x="14672818" y="6337935"/>
                  </a:lnTo>
                  <a:lnTo>
                    <a:pt x="0" y="6337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" r="0" b="-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267650" y="4657639"/>
            <a:ext cx="1634004" cy="623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Data Cleaning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67650" y="5385121"/>
            <a:ext cx="1634004" cy="4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2"/>
              </a:lnSpc>
            </a:pPr>
            <a:r>
              <a:rPr lang="en-US" sz="16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Normalize and remove errors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63346" y="4658897"/>
            <a:ext cx="1634004" cy="32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</a:pPr>
            <a:r>
              <a:rPr lang="en-US" sz="18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SQL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63346" y="5162550"/>
            <a:ext cx="1634004" cy="6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2"/>
              </a:lnSpc>
            </a:pPr>
            <a:r>
              <a:rPr lang="en-US" sz="16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Aggregate metrics and validate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75008" y="1815703"/>
            <a:ext cx="1634004" cy="623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Data Collection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75008" y="2543185"/>
            <a:ext cx="1634004" cy="6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2"/>
              </a:lnSpc>
            </a:pPr>
            <a:r>
              <a:rPr lang="en-US" sz="16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Ingest raw sources reproducibly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93657" y="1815703"/>
            <a:ext cx="1634004" cy="623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Power BI Dashboard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93657" y="2543185"/>
            <a:ext cx="1634004" cy="4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2"/>
              </a:lnSpc>
            </a:pPr>
            <a:r>
              <a:rPr lang="en-US" sz="16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Visualize metrics and trends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91544" y="1815703"/>
            <a:ext cx="1634004" cy="623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</a:pPr>
            <a:r>
              <a:rPr lang="en-US" sz="18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Feature Engineering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91544" y="2543185"/>
            <a:ext cx="1634004" cy="4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2"/>
              </a:lnSpc>
            </a:pPr>
            <a:r>
              <a:rPr lang="en-US" sz="16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Derive metrics like Health Risk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41674" y="6140206"/>
            <a:ext cx="11919052" cy="5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7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The pipeline enforces reproducible ETL, metric derivation, and dashboard-driven exploration. Key engineered metrics are shown below.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641674" y="6842674"/>
            <a:ext cx="4168378" cy="2334216"/>
            <a:chOff x="0" y="0"/>
            <a:chExt cx="5557838" cy="3112287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5557774" cy="3112262"/>
            </a:xfrm>
            <a:custGeom>
              <a:avLst/>
              <a:gdLst/>
              <a:ahLst/>
              <a:cxnLst/>
              <a:rect r="r" b="b" t="t" l="l"/>
              <a:pathLst>
                <a:path h="3112262" w="5557774">
                  <a:moveTo>
                    <a:pt x="0" y="0"/>
                  </a:moveTo>
                  <a:lnTo>
                    <a:pt x="5557774" y="0"/>
                  </a:lnTo>
                  <a:lnTo>
                    <a:pt x="5557774" y="3112262"/>
                  </a:lnTo>
                  <a:lnTo>
                    <a:pt x="0" y="3112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5" t="0" r="-56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199091" y="6661394"/>
            <a:ext cx="3197723" cy="1512541"/>
            <a:chOff x="0" y="0"/>
            <a:chExt cx="4263631" cy="20167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63517" cy="2016633"/>
            </a:xfrm>
            <a:custGeom>
              <a:avLst/>
              <a:gdLst/>
              <a:ahLst/>
              <a:cxnLst/>
              <a:rect r="r" b="b" t="t" l="l"/>
              <a:pathLst>
                <a:path h="2016633" w="4263517">
                  <a:moveTo>
                    <a:pt x="0" y="32258"/>
                  </a:moveTo>
                  <a:cubicBezTo>
                    <a:pt x="0" y="14478"/>
                    <a:pt x="14478" y="0"/>
                    <a:pt x="32258" y="0"/>
                  </a:cubicBezTo>
                  <a:lnTo>
                    <a:pt x="4231259" y="0"/>
                  </a:lnTo>
                  <a:cubicBezTo>
                    <a:pt x="4249039" y="0"/>
                    <a:pt x="4263517" y="14478"/>
                    <a:pt x="4263517" y="32258"/>
                  </a:cubicBezTo>
                  <a:lnTo>
                    <a:pt x="4263517" y="1984375"/>
                  </a:lnTo>
                  <a:cubicBezTo>
                    <a:pt x="4263517" y="2002155"/>
                    <a:pt x="4249039" y="2016633"/>
                    <a:pt x="4231259" y="2016633"/>
                  </a:cubicBezTo>
                  <a:lnTo>
                    <a:pt x="32258" y="2016633"/>
                  </a:lnTo>
                  <a:cubicBezTo>
                    <a:pt x="14478" y="2016633"/>
                    <a:pt x="0" y="2002155"/>
                    <a:pt x="0" y="1984375"/>
                  </a:cubicBezTo>
                  <a:close/>
                </a:path>
              </a:pathLst>
            </a:custGeom>
            <a:solidFill>
              <a:srgbClr val="F9F6F0"/>
            </a:solidFill>
            <a:ln w="19050" cap="sq">
              <a:solidFill>
                <a:srgbClr val="D4CEC3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8387058" y="6820795"/>
            <a:ext cx="1993554" cy="28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6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Health Risk Score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87058" y="7159676"/>
            <a:ext cx="2821781" cy="89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7"/>
              </a:lnSpc>
            </a:pPr>
            <a:r>
              <a:rPr lang="en-US" sz="13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Composite score combining normalized Fat, Free Sugar, and Cholesterol with domain-weighted coefficients to flag high-risk items.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467357" y="6661394"/>
            <a:ext cx="3197866" cy="1512541"/>
            <a:chOff x="0" y="0"/>
            <a:chExt cx="4263822" cy="20167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63771" cy="2016633"/>
            </a:xfrm>
            <a:custGeom>
              <a:avLst/>
              <a:gdLst/>
              <a:ahLst/>
              <a:cxnLst/>
              <a:rect r="r" b="b" t="t" l="l"/>
              <a:pathLst>
                <a:path h="2016633" w="4263771">
                  <a:moveTo>
                    <a:pt x="0" y="32258"/>
                  </a:moveTo>
                  <a:cubicBezTo>
                    <a:pt x="0" y="14478"/>
                    <a:pt x="14478" y="0"/>
                    <a:pt x="32258" y="0"/>
                  </a:cubicBezTo>
                  <a:lnTo>
                    <a:pt x="4231513" y="0"/>
                  </a:lnTo>
                  <a:cubicBezTo>
                    <a:pt x="4249293" y="0"/>
                    <a:pt x="4263771" y="14478"/>
                    <a:pt x="4263771" y="32258"/>
                  </a:cubicBezTo>
                  <a:lnTo>
                    <a:pt x="4263771" y="1984375"/>
                  </a:lnTo>
                  <a:cubicBezTo>
                    <a:pt x="4263771" y="2002155"/>
                    <a:pt x="4249293" y="2016633"/>
                    <a:pt x="4231513" y="2016633"/>
                  </a:cubicBezTo>
                  <a:lnTo>
                    <a:pt x="32258" y="2016633"/>
                  </a:lnTo>
                  <a:cubicBezTo>
                    <a:pt x="14478" y="2016633"/>
                    <a:pt x="0" y="2002155"/>
                    <a:pt x="0" y="1984375"/>
                  </a:cubicBezTo>
                  <a:close/>
                </a:path>
              </a:pathLst>
            </a:custGeom>
            <a:solidFill>
              <a:srgbClr val="F9F6F0"/>
            </a:solidFill>
            <a:ln w="19050" cap="sq">
              <a:solidFill>
                <a:srgbClr val="D4CEC3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1655323" y="6820795"/>
            <a:ext cx="1993554" cy="28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6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Nutrition Density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55323" y="7169201"/>
            <a:ext cx="2821934" cy="92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Ratio of beneficial nutrients (Protein, Fibre, Calcium) to energy; rewards nutrient-rich, lower-energy foods.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199091" y="8244488"/>
            <a:ext cx="6466132" cy="1113682"/>
            <a:chOff x="0" y="0"/>
            <a:chExt cx="8621509" cy="148490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621522" cy="1485011"/>
            </a:xfrm>
            <a:custGeom>
              <a:avLst/>
              <a:gdLst/>
              <a:ahLst/>
              <a:cxnLst/>
              <a:rect r="r" b="b" t="t" l="l"/>
              <a:pathLst>
                <a:path h="1485011" w="8621522">
                  <a:moveTo>
                    <a:pt x="0" y="32512"/>
                  </a:moveTo>
                  <a:cubicBezTo>
                    <a:pt x="0" y="14478"/>
                    <a:pt x="14478" y="0"/>
                    <a:pt x="32512" y="0"/>
                  </a:cubicBezTo>
                  <a:lnTo>
                    <a:pt x="8589010" y="0"/>
                  </a:lnTo>
                  <a:cubicBezTo>
                    <a:pt x="8606917" y="0"/>
                    <a:pt x="8621522" y="14478"/>
                    <a:pt x="8621522" y="32512"/>
                  </a:cubicBezTo>
                  <a:lnTo>
                    <a:pt x="8621522" y="1452499"/>
                  </a:lnTo>
                  <a:cubicBezTo>
                    <a:pt x="8621522" y="1470406"/>
                    <a:pt x="8607044" y="1485011"/>
                    <a:pt x="8589010" y="1485011"/>
                  </a:cubicBezTo>
                  <a:lnTo>
                    <a:pt x="32512" y="1485011"/>
                  </a:lnTo>
                  <a:cubicBezTo>
                    <a:pt x="14605" y="1485011"/>
                    <a:pt x="0" y="1470533"/>
                    <a:pt x="0" y="1452499"/>
                  </a:cubicBezTo>
                  <a:close/>
                </a:path>
              </a:pathLst>
            </a:custGeom>
            <a:solidFill>
              <a:srgbClr val="F9F6F0"/>
            </a:solidFill>
            <a:ln w="19050" cap="sq">
              <a:solidFill>
                <a:srgbClr val="D4CEC3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8387058" y="8403879"/>
            <a:ext cx="1993554" cy="28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6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Validation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87058" y="8752284"/>
            <a:ext cx="6090199" cy="46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Checks include distribution analysis, correlation matrices, and SQL-based consistency tests.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310413"/>
            <a:ext cx="8320240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Top Nutrient-Dense Foods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519487"/>
            <a:ext cx="172179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Ranked analysis highlights traditional pulse- and grain-based preparations as nutrient-dense leaders.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396826"/>
            <a:ext cx="1507484" cy="931659"/>
            <a:chOff x="0" y="0"/>
            <a:chExt cx="2009978" cy="124221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010029" cy="1242187"/>
            </a:xfrm>
            <a:custGeom>
              <a:avLst/>
              <a:gdLst/>
              <a:ahLst/>
              <a:cxnLst/>
              <a:rect r="r" b="b" t="t" l="l"/>
              <a:pathLst>
                <a:path h="1242187" w="2010029">
                  <a:moveTo>
                    <a:pt x="0" y="0"/>
                  </a:moveTo>
                  <a:lnTo>
                    <a:pt x="2010029" y="0"/>
                  </a:lnTo>
                  <a:lnTo>
                    <a:pt x="2010029" y="1242187"/>
                  </a:lnTo>
                  <a:lnTo>
                    <a:pt x="0" y="124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9" r="2" b="-18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854081" y="4368251"/>
            <a:ext cx="333642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Maa Chaane Ki Dal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54081" y="5347992"/>
            <a:ext cx="333642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Top nutrition density: high protein and fibre relative to energy.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44866" y="4396826"/>
            <a:ext cx="1507484" cy="931659"/>
            <a:chOff x="0" y="0"/>
            <a:chExt cx="2009978" cy="12422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010029" cy="1242187"/>
            </a:xfrm>
            <a:custGeom>
              <a:avLst/>
              <a:gdLst/>
              <a:ahLst/>
              <a:cxnLst/>
              <a:rect r="r" b="b" t="t" l="l"/>
              <a:pathLst>
                <a:path h="1242187" w="2010029">
                  <a:moveTo>
                    <a:pt x="0" y="0"/>
                  </a:moveTo>
                  <a:lnTo>
                    <a:pt x="2010029" y="0"/>
                  </a:lnTo>
                  <a:lnTo>
                    <a:pt x="2010029" y="1242187"/>
                  </a:lnTo>
                  <a:lnTo>
                    <a:pt x="0" y="124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9" r="2" b="-18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408641" y="4368251"/>
            <a:ext cx="3336427" cy="135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Cracked Wheat &amp; Green Gram Premix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06708" y="5347992"/>
            <a:ext cx="333642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Balanced macro profile with excellent micronutrient density.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97493" y="4396826"/>
            <a:ext cx="1507484" cy="931659"/>
            <a:chOff x="0" y="0"/>
            <a:chExt cx="2009978" cy="124221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2010029" cy="1242187"/>
            </a:xfrm>
            <a:custGeom>
              <a:avLst/>
              <a:gdLst/>
              <a:ahLst/>
              <a:cxnLst/>
              <a:rect r="r" b="b" t="t" l="l"/>
              <a:pathLst>
                <a:path h="1242187" w="2010029">
                  <a:moveTo>
                    <a:pt x="0" y="0"/>
                  </a:moveTo>
                  <a:lnTo>
                    <a:pt x="2010029" y="0"/>
                  </a:lnTo>
                  <a:lnTo>
                    <a:pt x="2010029" y="1242187"/>
                  </a:lnTo>
                  <a:lnTo>
                    <a:pt x="0" y="124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9" r="2" b="-183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959335" y="4368251"/>
            <a:ext cx="333642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Dessicated Coconut Chutney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59335" y="5347992"/>
            <a:ext cx="333642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Surprisingly nutrient-dense when portioned appropriately.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4959248"/>
            <a:ext cx="1507484" cy="931659"/>
            <a:chOff x="0" y="0"/>
            <a:chExt cx="2009978" cy="124221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010029" cy="1242187"/>
            </a:xfrm>
            <a:custGeom>
              <a:avLst/>
              <a:gdLst/>
              <a:ahLst/>
              <a:cxnLst/>
              <a:rect r="r" b="b" t="t" l="l"/>
              <a:pathLst>
                <a:path h="1242187" w="2010029">
                  <a:moveTo>
                    <a:pt x="0" y="0"/>
                  </a:moveTo>
                  <a:lnTo>
                    <a:pt x="2010029" y="0"/>
                  </a:lnTo>
                  <a:lnTo>
                    <a:pt x="2010029" y="1242187"/>
                  </a:lnTo>
                  <a:lnTo>
                    <a:pt x="0" y="124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9" r="2" b="-18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544866" y="4959248"/>
            <a:ext cx="1507484" cy="931659"/>
            <a:chOff x="0" y="0"/>
            <a:chExt cx="2009978" cy="124221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010029" cy="1242187"/>
            </a:xfrm>
            <a:custGeom>
              <a:avLst/>
              <a:gdLst/>
              <a:ahLst/>
              <a:cxnLst/>
              <a:rect r="r" b="b" t="t" l="l"/>
              <a:pathLst>
                <a:path h="1242187" w="2010029">
                  <a:moveTo>
                    <a:pt x="0" y="0"/>
                  </a:moveTo>
                  <a:lnTo>
                    <a:pt x="2010029" y="0"/>
                  </a:lnTo>
                  <a:lnTo>
                    <a:pt x="2010029" y="1242187"/>
                  </a:lnTo>
                  <a:lnTo>
                    <a:pt x="0" y="124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9" r="2" b="-18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65434" y="5318817"/>
            <a:ext cx="171450" cy="171450"/>
            <a:chOff x="0" y="0"/>
            <a:chExt cx="228600" cy="2286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2095559" y="4852987"/>
            <a:ext cx="1468231" cy="931659"/>
          </a:xfrm>
          <a:custGeom>
            <a:avLst/>
            <a:gdLst/>
            <a:ahLst/>
            <a:cxnLst/>
            <a:rect r="r" b="b" t="t" l="l"/>
            <a:pathLst>
              <a:path h="931659" w="1468231">
                <a:moveTo>
                  <a:pt x="0" y="0"/>
                </a:moveTo>
                <a:lnTo>
                  <a:pt x="1468231" y="0"/>
                </a:lnTo>
                <a:lnTo>
                  <a:pt x="1468231" y="931660"/>
                </a:lnTo>
                <a:lnTo>
                  <a:pt x="0" y="931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92238" y="2872826"/>
            <a:ext cx="11725123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Foods with Highest Health Risk Scores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4081910"/>
            <a:ext cx="172179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Highest risk items are dominated by high free sugar and saturated fat content.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54081" y="4930673"/>
            <a:ext cx="333642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Butter Icing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54081" y="5467502"/>
            <a:ext cx="333642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Extremely high sugar + saturated fat → top health risk.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06708" y="4930673"/>
            <a:ext cx="333642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Glace Icing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06708" y="5467502"/>
            <a:ext cx="333642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High free sugar concentration, low nutrient value.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56434" y="4930673"/>
            <a:ext cx="3742229" cy="43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Mango Murabba Candy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56434" y="5467502"/>
            <a:ext cx="333642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Sugar-preserved fruit with concentrated free sugars and energy.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99973"/>
            <a:ext cx="9927279" cy="73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Healthy Food 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394052"/>
            <a:ext cx="3848338" cy="43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84237"/>
                </a:solidFill>
                <a:latin typeface="Arimo Bold"/>
                <a:ea typeface="Arimo Bold"/>
                <a:cs typeface="Arimo Bold"/>
                <a:sym typeface="Arimo Bold"/>
              </a:rPr>
              <a:t>High Protein · Low Risk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3167663"/>
            <a:ext cx="3768328" cy="2597648"/>
          </a:xfrm>
          <a:custGeom>
            <a:avLst/>
            <a:gdLst/>
            <a:ahLst/>
            <a:cxnLst/>
            <a:rect r="r" b="b" t="t" l="l"/>
            <a:pathLst>
              <a:path h="2597648" w="3768328">
                <a:moveTo>
                  <a:pt x="0" y="0"/>
                </a:moveTo>
                <a:lnTo>
                  <a:pt x="3768328" y="0"/>
                </a:lnTo>
                <a:lnTo>
                  <a:pt x="3768328" y="2597648"/>
                </a:lnTo>
                <a:lnTo>
                  <a:pt x="0" y="2597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" r="0" b="-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71292" y="3418132"/>
            <a:ext cx="3210220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Roast Chicken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1292" y="4071785"/>
            <a:ext cx="3210220" cy="141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Lean protein, low added sugars — strong nutrition / low risk.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5035306" y="3167663"/>
            <a:ext cx="3768328" cy="2597648"/>
          </a:xfrm>
          <a:custGeom>
            <a:avLst/>
            <a:gdLst/>
            <a:ahLst/>
            <a:cxnLst/>
            <a:rect r="r" b="b" t="t" l="l"/>
            <a:pathLst>
              <a:path h="2597648" w="3768328">
                <a:moveTo>
                  <a:pt x="0" y="0"/>
                </a:moveTo>
                <a:lnTo>
                  <a:pt x="3768328" y="0"/>
                </a:lnTo>
                <a:lnTo>
                  <a:pt x="3768328" y="2597648"/>
                </a:lnTo>
                <a:lnTo>
                  <a:pt x="0" y="2597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" r="0" b="-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14350" y="3418132"/>
            <a:ext cx="3210220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Tandoori Chicken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14350" y="4071785"/>
            <a:ext cx="3210220" cy="141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Spice-forward preparation with preserved protein profile.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6040041"/>
            <a:ext cx="7811395" cy="1711823"/>
          </a:xfrm>
          <a:custGeom>
            <a:avLst/>
            <a:gdLst/>
            <a:ahLst/>
            <a:cxnLst/>
            <a:rect r="r" b="b" t="t" l="l"/>
            <a:pathLst>
              <a:path h="1711823" w="7811395">
                <a:moveTo>
                  <a:pt x="0" y="0"/>
                </a:moveTo>
                <a:lnTo>
                  <a:pt x="7811396" y="0"/>
                </a:lnTo>
                <a:lnTo>
                  <a:pt x="7811396" y="1711823"/>
                </a:lnTo>
                <a:lnTo>
                  <a:pt x="0" y="17118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2" r="0" b="-22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71292" y="6290520"/>
            <a:ext cx="3488684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Fish Tikka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1292" y="6944173"/>
            <a:ext cx="7253288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High protein, beneficial fats, low processed sugar.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3891" y="2394052"/>
            <a:ext cx="3752850" cy="43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84237"/>
                </a:solidFill>
                <a:latin typeface="Arimo Bold"/>
                <a:ea typeface="Arimo Bold"/>
                <a:cs typeface="Arimo Bold"/>
                <a:sym typeface="Arimo Bold"/>
              </a:rPr>
              <a:t>High Fibre · Low Sugar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493891" y="3167663"/>
            <a:ext cx="3768328" cy="3033712"/>
          </a:xfrm>
          <a:custGeom>
            <a:avLst/>
            <a:gdLst/>
            <a:ahLst/>
            <a:cxnLst/>
            <a:rect r="r" b="b" t="t" l="l"/>
            <a:pathLst>
              <a:path h="3033712" w="3768328">
                <a:moveTo>
                  <a:pt x="0" y="0"/>
                </a:moveTo>
                <a:lnTo>
                  <a:pt x="3768328" y="0"/>
                </a:lnTo>
                <a:lnTo>
                  <a:pt x="3768328" y="3033712"/>
                </a:lnTo>
                <a:lnTo>
                  <a:pt x="0" y="30337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1" r="0" b="-31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772945" y="3418132"/>
            <a:ext cx="3210220" cy="90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Maa Chaane Ki Dal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72945" y="4507859"/>
            <a:ext cx="3210220" cy="141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Top fibre and protein—consistent low-risk performer.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13536959" y="3167663"/>
            <a:ext cx="3768328" cy="3033712"/>
          </a:xfrm>
          <a:custGeom>
            <a:avLst/>
            <a:gdLst/>
            <a:ahLst/>
            <a:cxnLst/>
            <a:rect r="r" b="b" t="t" l="l"/>
            <a:pathLst>
              <a:path h="3033712" w="3768328">
                <a:moveTo>
                  <a:pt x="0" y="0"/>
                </a:moveTo>
                <a:lnTo>
                  <a:pt x="3768328" y="0"/>
                </a:lnTo>
                <a:lnTo>
                  <a:pt x="3768328" y="3033712"/>
                </a:lnTo>
                <a:lnTo>
                  <a:pt x="0" y="30337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1" r="0" b="-31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816012" y="3418132"/>
            <a:ext cx="3210220" cy="90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Cracked Wheat &amp; Green Gram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16012" y="4507859"/>
            <a:ext cx="3210220" cy="141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Whole-grain base with sustained energy release and fibre.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9493891" y="6476105"/>
            <a:ext cx="7811395" cy="1711823"/>
          </a:xfrm>
          <a:custGeom>
            <a:avLst/>
            <a:gdLst/>
            <a:ahLst/>
            <a:cxnLst/>
            <a:rect r="r" b="b" t="t" l="l"/>
            <a:pathLst>
              <a:path h="1711823" w="7811395">
                <a:moveTo>
                  <a:pt x="0" y="0"/>
                </a:moveTo>
                <a:lnTo>
                  <a:pt x="7811396" y="0"/>
                </a:lnTo>
                <a:lnTo>
                  <a:pt x="7811396" y="1711823"/>
                </a:lnTo>
                <a:lnTo>
                  <a:pt x="0" y="17118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2" r="0" b="-22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772945" y="6726584"/>
            <a:ext cx="3488684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Soya Roti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72945" y="7380237"/>
            <a:ext cx="7253288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Plant protein with high fibre and micronutrient content.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238" y="8720137"/>
            <a:ext cx="1721792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Recommendation: Prioritise whole pulses, lean proteins, and fibre-rich grains for lower health risk and improved nutrition density.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49659"/>
            <a:ext cx="10716216" cy="65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Health Risk Distribution &amp; Leaderboard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077488"/>
            <a:ext cx="7849200" cy="5649811"/>
            <a:chOff x="0" y="0"/>
            <a:chExt cx="10465600" cy="753308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465562" cy="7533132"/>
            </a:xfrm>
            <a:custGeom>
              <a:avLst/>
              <a:gdLst/>
              <a:ahLst/>
              <a:cxnLst/>
              <a:rect r="r" b="b" t="t" l="l"/>
              <a:pathLst>
                <a:path h="7533132" w="10465562">
                  <a:moveTo>
                    <a:pt x="0" y="0"/>
                  </a:moveTo>
                  <a:lnTo>
                    <a:pt x="10465562" y="0"/>
                  </a:lnTo>
                  <a:lnTo>
                    <a:pt x="10465562" y="7533132"/>
                  </a:lnTo>
                  <a:lnTo>
                    <a:pt x="0" y="7533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238" y="7904712"/>
            <a:ext cx="87636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Distribution shows the majority of items classify as Low Risk.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6096" y="2021834"/>
            <a:ext cx="3017401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Top Healthiest Foods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456096" y="2682183"/>
            <a:ext cx="620163" cy="620163"/>
          </a:xfrm>
          <a:custGeom>
            <a:avLst/>
            <a:gdLst/>
            <a:ahLst/>
            <a:cxnLst/>
            <a:rect r="r" b="b" t="t" l="l"/>
            <a:pathLst>
              <a:path h="620163" w="620163">
                <a:moveTo>
                  <a:pt x="0" y="0"/>
                </a:moveTo>
                <a:lnTo>
                  <a:pt x="620163" y="0"/>
                </a:lnTo>
                <a:lnTo>
                  <a:pt x="620163" y="620163"/>
                </a:lnTo>
                <a:lnTo>
                  <a:pt x="0" y="6201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456096" y="3554606"/>
            <a:ext cx="3227937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1. Maa Chaane Ki Dal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56096" y="4111676"/>
            <a:ext cx="78492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Highest Nutrition Density &amp; low Health Risk.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456096" y="4984556"/>
            <a:ext cx="620163" cy="620163"/>
          </a:xfrm>
          <a:custGeom>
            <a:avLst/>
            <a:gdLst/>
            <a:ahLst/>
            <a:cxnLst/>
            <a:rect r="r" b="b" t="t" l="l"/>
            <a:pathLst>
              <a:path h="620163" w="620163">
                <a:moveTo>
                  <a:pt x="0" y="0"/>
                </a:moveTo>
                <a:lnTo>
                  <a:pt x="620163" y="0"/>
                </a:lnTo>
                <a:lnTo>
                  <a:pt x="620163" y="620164"/>
                </a:lnTo>
                <a:lnTo>
                  <a:pt x="0" y="6201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515" t="0" r="-1514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456096" y="5856980"/>
            <a:ext cx="615612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2. Cracked Wheat &amp; Green Gram Premix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56096" y="6414049"/>
            <a:ext cx="78492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Balanced macros and fibre-forward profile.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456096" y="7286920"/>
            <a:ext cx="620163" cy="620163"/>
          </a:xfrm>
          <a:custGeom>
            <a:avLst/>
            <a:gdLst/>
            <a:ahLst/>
            <a:cxnLst/>
            <a:rect r="r" b="b" t="t" l="l"/>
            <a:pathLst>
              <a:path h="620163" w="620163">
                <a:moveTo>
                  <a:pt x="0" y="0"/>
                </a:moveTo>
                <a:lnTo>
                  <a:pt x="620163" y="0"/>
                </a:lnTo>
                <a:lnTo>
                  <a:pt x="620163" y="620164"/>
                </a:lnTo>
                <a:lnTo>
                  <a:pt x="0" y="620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4999" r="0" b="-25001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456096" y="8159353"/>
            <a:ext cx="4706388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3. Dessicated Coconut Chutney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56096" y="8716413"/>
            <a:ext cx="78492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High nutrient concentration in controlled portions.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49351"/>
            <a:ext cx="12451261" cy="69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Power BI Dashboard — Interactive Showcase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073326"/>
            <a:ext cx="6869906" cy="7155209"/>
            <a:chOff x="0" y="0"/>
            <a:chExt cx="9159875" cy="954027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159875" cy="9540240"/>
            </a:xfrm>
            <a:custGeom>
              <a:avLst/>
              <a:gdLst/>
              <a:ahLst/>
              <a:cxnLst/>
              <a:rect r="r" b="b" t="t" l="l"/>
              <a:pathLst>
                <a:path h="9540240" w="9159875">
                  <a:moveTo>
                    <a:pt x="0" y="0"/>
                  </a:moveTo>
                  <a:lnTo>
                    <a:pt x="9159875" y="0"/>
                  </a:lnTo>
                  <a:lnTo>
                    <a:pt x="9159875" y="9540240"/>
                  </a:lnTo>
                  <a:lnTo>
                    <a:pt x="0" y="9540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72317" y="2522782"/>
            <a:ext cx="3796008" cy="3180312"/>
            <a:chOff x="0" y="0"/>
            <a:chExt cx="5061344" cy="42404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61458" cy="4240403"/>
            </a:xfrm>
            <a:custGeom>
              <a:avLst/>
              <a:gdLst/>
              <a:ahLst/>
              <a:cxnLst/>
              <a:rect r="r" b="b" t="t" l="l"/>
              <a:pathLst>
                <a:path h="4240403" w="5061458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5009134" y="0"/>
                  </a:lnTo>
                  <a:cubicBezTo>
                    <a:pt x="5037963" y="0"/>
                    <a:pt x="5061458" y="23368"/>
                    <a:pt x="5061458" y="52324"/>
                  </a:cubicBezTo>
                  <a:lnTo>
                    <a:pt x="5061458" y="4188079"/>
                  </a:lnTo>
                  <a:cubicBezTo>
                    <a:pt x="5061458" y="4216908"/>
                    <a:pt x="5038090" y="4240403"/>
                    <a:pt x="5009134" y="4240403"/>
                  </a:cubicBezTo>
                  <a:lnTo>
                    <a:pt x="52324" y="4240403"/>
                  </a:lnTo>
                  <a:cubicBezTo>
                    <a:pt x="23495" y="4240403"/>
                    <a:pt x="0" y="4217035"/>
                    <a:pt x="0" y="4188079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733655" y="2755554"/>
            <a:ext cx="3267227" cy="43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KPI Cards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33655" y="3366640"/>
            <a:ext cx="3273323" cy="207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Key metrics: % Low Risk foods, Avg Nutrition Density, Avg Health Risk Score — at-a-glance monitoring.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509279" y="2522782"/>
            <a:ext cx="3796008" cy="3180312"/>
            <a:chOff x="0" y="0"/>
            <a:chExt cx="5061344" cy="42404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61458" cy="4240403"/>
            </a:xfrm>
            <a:custGeom>
              <a:avLst/>
              <a:gdLst/>
              <a:ahLst/>
              <a:cxnLst/>
              <a:rect r="r" b="b" t="t" l="l"/>
              <a:pathLst>
                <a:path h="4240403" w="5061458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5009134" y="0"/>
                  </a:lnTo>
                  <a:cubicBezTo>
                    <a:pt x="5037963" y="0"/>
                    <a:pt x="5061458" y="23368"/>
                    <a:pt x="5061458" y="52324"/>
                  </a:cubicBezTo>
                  <a:lnTo>
                    <a:pt x="5061458" y="4188079"/>
                  </a:lnTo>
                  <a:cubicBezTo>
                    <a:pt x="5061458" y="4216908"/>
                    <a:pt x="5038090" y="4240403"/>
                    <a:pt x="5009134" y="4240403"/>
                  </a:cubicBezTo>
                  <a:lnTo>
                    <a:pt x="52324" y="4240403"/>
                  </a:lnTo>
                  <a:cubicBezTo>
                    <a:pt x="23495" y="4240403"/>
                    <a:pt x="0" y="4217035"/>
                    <a:pt x="0" y="4188079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770616" y="2755554"/>
            <a:ext cx="3267227" cy="43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Interactive Filters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70616" y="3366640"/>
            <a:ext cx="3273323" cy="167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Filter by category, region, serving size, and nutrient thresholds for targeted analysis.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72317" y="5944048"/>
            <a:ext cx="7832969" cy="1975247"/>
            <a:chOff x="0" y="0"/>
            <a:chExt cx="10443959" cy="26336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43972" cy="2633726"/>
            </a:xfrm>
            <a:custGeom>
              <a:avLst/>
              <a:gdLst/>
              <a:ahLst/>
              <a:cxnLst/>
              <a:rect r="r" b="b" t="t" l="l"/>
              <a:pathLst>
                <a:path h="2633726" w="10443972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391648" y="0"/>
                  </a:lnTo>
                  <a:cubicBezTo>
                    <a:pt x="10420477" y="0"/>
                    <a:pt x="10443972" y="23368"/>
                    <a:pt x="10443972" y="52324"/>
                  </a:cubicBezTo>
                  <a:lnTo>
                    <a:pt x="10443972" y="2581402"/>
                  </a:lnTo>
                  <a:cubicBezTo>
                    <a:pt x="10443972" y="2610231"/>
                    <a:pt x="10420604" y="2633726"/>
                    <a:pt x="10391648" y="2633726"/>
                  </a:cubicBezTo>
                  <a:lnTo>
                    <a:pt x="52324" y="2633726"/>
                  </a:lnTo>
                  <a:cubicBezTo>
                    <a:pt x="23495" y="2633726"/>
                    <a:pt x="0" y="2610358"/>
                    <a:pt x="0" y="2581402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33655" y="6176810"/>
            <a:ext cx="3267227" cy="43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Visuals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33655" y="6787906"/>
            <a:ext cx="7310285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Risk distribution, ranked leaderboards, and nutrient correlation panels support rapid insights.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114380"/>
            <a:ext cx="8008296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Conclusions &amp; Next Steps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286402"/>
            <a:ext cx="567033" cy="354359"/>
            <a:chOff x="0" y="0"/>
            <a:chExt cx="756044" cy="4724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46558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2238" y="4730201"/>
            <a:ext cx="8009934" cy="38100"/>
            <a:chOff x="0" y="0"/>
            <a:chExt cx="10679913" cy="5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3C5B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4919510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Key Conclusions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456339"/>
            <a:ext cx="8009934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Traditional pulse- and grain-based foods scored highest on Nutrition Density; high-sugar/fat items had the highest Health Risk Scores. 662 of 1,028 foods classified as Low Risk.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85684" y="4286402"/>
            <a:ext cx="567033" cy="354359"/>
            <a:chOff x="0" y="0"/>
            <a:chExt cx="756044" cy="4724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46558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85684" y="4730201"/>
            <a:ext cx="8010077" cy="38100"/>
            <a:chOff x="0" y="0"/>
            <a:chExt cx="10680103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3C5B6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285684" y="4919510"/>
            <a:ext cx="3876380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Future Enhancements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85684" y="5456339"/>
            <a:ext cx="801007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Apply machine learning for risk prediction, build personalised recommendations, integrate real-time nutrition APIs, and deploy a web-based interactive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DAHMo3h9LfE</dc:identifier>
  <dcterms:modified xsi:type="dcterms:W3CDTF">2011-08-01T06:04:30Z</dcterms:modified>
  <cp:revision>1</cp:revision>
  <dc:title>Food-Nutrition-and-Health-Risk-Analytics-System.pptx</dc:title>
</cp:coreProperties>
</file>